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7a606a7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7a606a7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d7a606a79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d7a606a79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d7a606a7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d7a606a7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d7a606a7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d7a606a7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d7a606a7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d7a606a7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d7a606a7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d7a606a7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d7a606a79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d7a606a79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241925" y="144825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TOA MODULE M-01</a:t>
            </a:r>
            <a:endParaRPr b="1" sz="1300">
              <a:solidFill>
                <a:schemeClr val="dk2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2125"/>
            <a:ext cx="8839198" cy="37600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88900" y="4518475"/>
            <a:ext cx="742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</a:rPr>
              <a:t>TOA brand rack-mount amplifier modules produced in the 1980s-90s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TOA MODULE M_01 FRON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401238" y="714153"/>
            <a:ext cx="4234941" cy="3389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TOA MODULE M_01 BACK 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592408" y="801419"/>
            <a:ext cx="4153370" cy="330158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141425" y="4597175"/>
            <a:ext cx="3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TOP </a:t>
            </a:r>
            <a:r>
              <a:rPr lang="en-GB" sz="1100">
                <a:solidFill>
                  <a:schemeClr val="dk2"/>
                </a:solidFill>
              </a:rPr>
              <a:t>(LOOKING FROM TOP)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088075" y="4597175"/>
            <a:ext cx="3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BOTTOM </a:t>
            </a:r>
            <a:r>
              <a:rPr lang="en-GB" sz="1100">
                <a:solidFill>
                  <a:schemeClr val="dk2"/>
                </a:solidFill>
              </a:rPr>
              <a:t>(LOOKING FROM BOTTOM)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1604532" y="403165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70" name="Google Shape;70;p15" title="20260208_183626.jpg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 flipH="1">
            <a:off x="526200" y="397650"/>
            <a:ext cx="5469952" cy="43481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5"/>
          <p:cNvCxnSpPr/>
          <p:nvPr/>
        </p:nvCxnSpPr>
        <p:spPr>
          <a:xfrm>
            <a:off x="4037050" y="3506255"/>
            <a:ext cx="251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2" name="Google Shape;72;p15"/>
          <p:cNvSpPr txBox="1"/>
          <p:nvPr/>
        </p:nvSpPr>
        <p:spPr>
          <a:xfrm>
            <a:off x="6616275" y="3321605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IC1 UPC4570</a:t>
            </a:r>
            <a:endParaRPr sz="900">
              <a:solidFill>
                <a:schemeClr val="dk2"/>
              </a:solidFill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5711675" y="1630300"/>
            <a:ext cx="3085775" cy="1687053"/>
            <a:chOff x="5711675" y="1630300"/>
            <a:chExt cx="3085775" cy="1687053"/>
          </a:xfrm>
        </p:grpSpPr>
        <p:cxnSp>
          <p:nvCxnSpPr>
            <p:cNvPr id="74" name="Google Shape;74;p15"/>
            <p:cNvCxnSpPr/>
            <p:nvPr/>
          </p:nvCxnSpPr>
          <p:spPr>
            <a:xfrm>
              <a:off x="5711675" y="1814950"/>
              <a:ext cx="83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75" name="Google Shape;75;p15"/>
            <p:cNvSpPr txBox="1"/>
            <p:nvPr/>
          </p:nvSpPr>
          <p:spPr>
            <a:xfrm>
              <a:off x="6584650" y="1630300"/>
              <a:ext cx="221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dk2"/>
                  </a:solidFill>
                </a:rPr>
                <a:t>6.  +24VDC</a:t>
              </a:r>
              <a:endParaRPr b="1" sz="900">
                <a:solidFill>
                  <a:schemeClr val="dk2"/>
                </a:solidFill>
              </a:endParaRPr>
            </a:p>
          </p:txBody>
        </p:sp>
        <p:cxnSp>
          <p:nvCxnSpPr>
            <p:cNvPr id="76" name="Google Shape;76;p15"/>
            <p:cNvCxnSpPr/>
            <p:nvPr/>
          </p:nvCxnSpPr>
          <p:spPr>
            <a:xfrm>
              <a:off x="5711675" y="2094446"/>
              <a:ext cx="83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77" name="Google Shape;77;p15"/>
            <p:cNvSpPr txBox="1"/>
            <p:nvPr/>
          </p:nvSpPr>
          <p:spPr>
            <a:xfrm>
              <a:off x="6584650" y="1903091"/>
              <a:ext cx="221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dk2"/>
                  </a:solidFill>
                </a:rPr>
                <a:t>5.  MIX OUT</a:t>
              </a:r>
              <a:endParaRPr b="1" sz="900">
                <a:solidFill>
                  <a:schemeClr val="dk2"/>
                </a:solidFill>
              </a:endParaRPr>
            </a:p>
          </p:txBody>
        </p:sp>
        <p:cxnSp>
          <p:nvCxnSpPr>
            <p:cNvPr id="78" name="Google Shape;78;p15"/>
            <p:cNvCxnSpPr/>
            <p:nvPr/>
          </p:nvCxnSpPr>
          <p:spPr>
            <a:xfrm>
              <a:off x="5711675" y="2373283"/>
              <a:ext cx="83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79" name="Google Shape;79;p15"/>
            <p:cNvSpPr txBox="1"/>
            <p:nvPr/>
          </p:nvSpPr>
          <p:spPr>
            <a:xfrm>
              <a:off x="6584650" y="2175881"/>
              <a:ext cx="221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dk2"/>
                  </a:solidFill>
                </a:rPr>
                <a:t>4.  SIGNAL </a:t>
              </a:r>
              <a:r>
                <a:rPr lang="en-GB" sz="900">
                  <a:solidFill>
                    <a:schemeClr val="dk2"/>
                  </a:solidFill>
                </a:rPr>
                <a:t>(OUTPUT)</a:t>
              </a:r>
              <a:endParaRPr b="1" sz="900">
                <a:solidFill>
                  <a:schemeClr val="dk2"/>
                </a:solidFill>
              </a:endParaRPr>
            </a:p>
          </p:txBody>
        </p:sp>
        <p:cxnSp>
          <p:nvCxnSpPr>
            <p:cNvPr id="80" name="Google Shape;80;p15"/>
            <p:cNvCxnSpPr/>
            <p:nvPr/>
          </p:nvCxnSpPr>
          <p:spPr>
            <a:xfrm>
              <a:off x="5711675" y="2622051"/>
              <a:ext cx="83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81" name="Google Shape;81;p15"/>
            <p:cNvSpPr txBox="1"/>
            <p:nvPr/>
          </p:nvSpPr>
          <p:spPr>
            <a:xfrm>
              <a:off x="6584650" y="2448672"/>
              <a:ext cx="221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dk2"/>
                  </a:solidFill>
                </a:rPr>
                <a:t>3.  COMMON </a:t>
              </a:r>
              <a:r>
                <a:rPr lang="en-GB" sz="900">
                  <a:solidFill>
                    <a:schemeClr val="dk2"/>
                  </a:solidFill>
                </a:rPr>
                <a:t>(EARTH)</a:t>
              </a:r>
              <a:endParaRPr sz="900">
                <a:solidFill>
                  <a:schemeClr val="dk2"/>
                </a:solidFill>
              </a:endParaRPr>
            </a:p>
          </p:txBody>
        </p:sp>
        <p:cxnSp>
          <p:nvCxnSpPr>
            <p:cNvPr id="82" name="Google Shape;82;p15"/>
            <p:cNvCxnSpPr/>
            <p:nvPr/>
          </p:nvCxnSpPr>
          <p:spPr>
            <a:xfrm>
              <a:off x="5722148" y="2900803"/>
              <a:ext cx="83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83" name="Google Shape;83;p15"/>
            <p:cNvSpPr txBox="1"/>
            <p:nvPr/>
          </p:nvSpPr>
          <p:spPr>
            <a:xfrm>
              <a:off x="6584650" y="2721462"/>
              <a:ext cx="221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dk2"/>
                  </a:solidFill>
                </a:rPr>
                <a:t>2.  MUTE BUS 1</a:t>
              </a:r>
              <a:endParaRPr b="1" sz="900">
                <a:solidFill>
                  <a:schemeClr val="dk2"/>
                </a:solidFill>
              </a:endParaRPr>
            </a:p>
          </p:txBody>
        </p:sp>
        <p:cxnSp>
          <p:nvCxnSpPr>
            <p:cNvPr id="84" name="Google Shape;84;p15"/>
            <p:cNvCxnSpPr/>
            <p:nvPr/>
          </p:nvCxnSpPr>
          <p:spPr>
            <a:xfrm>
              <a:off x="5722148" y="3178900"/>
              <a:ext cx="834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85" name="Google Shape;85;p15"/>
            <p:cNvSpPr txBox="1"/>
            <p:nvPr/>
          </p:nvSpPr>
          <p:spPr>
            <a:xfrm>
              <a:off x="6584650" y="2994253"/>
              <a:ext cx="2212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chemeClr val="dk2"/>
                  </a:solidFill>
                </a:rPr>
                <a:t>1.  UTE BUS 2</a:t>
              </a:r>
              <a:endParaRPr b="1" sz="900">
                <a:solidFill>
                  <a:schemeClr val="dk2"/>
                </a:solidFill>
              </a:endParaRPr>
            </a:p>
          </p:txBody>
        </p:sp>
      </p:grpSp>
      <p:sp>
        <p:nvSpPr>
          <p:cNvPr id="86" name="Google Shape;86;p15"/>
          <p:cNvSpPr txBox="1"/>
          <p:nvPr/>
        </p:nvSpPr>
        <p:spPr>
          <a:xfrm rot="-5400000">
            <a:off x="2743625" y="376237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222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 rot="-5400000">
            <a:off x="2589725" y="379307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567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8" name="Google Shape;88;p15"/>
          <p:cNvSpPr txBox="1"/>
          <p:nvPr/>
        </p:nvSpPr>
        <p:spPr>
          <a:xfrm rot="-5400000">
            <a:off x="3128175" y="2468150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472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 rot="-5400000">
            <a:off x="3670750" y="258657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221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 rot="-5400000">
            <a:off x="4411550" y="253627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332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604500" y="2365150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332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2" name="Google Shape;92;p15"/>
          <p:cNvSpPr txBox="1"/>
          <p:nvPr/>
        </p:nvSpPr>
        <p:spPr>
          <a:xfrm rot="-5400000">
            <a:off x="1477546" y="263838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 rot="-5400000">
            <a:off x="2999673" y="3303441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 rot="-5400000">
            <a:off x="2847273" y="3310429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 rot="-5400000">
            <a:off x="3304473" y="3836841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</a:rPr>
              <a:t>XX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 rot="-5400000">
            <a:off x="3436821" y="3827290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 rot="-5400000">
            <a:off x="3595296" y="3822864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 rot="-5400000">
            <a:off x="3152075" y="382287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</a:rPr>
              <a:t>XX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 rot="-5400000">
            <a:off x="3020638" y="3767629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0" name="Google Shape;100;p15"/>
          <p:cNvSpPr txBox="1"/>
          <p:nvPr/>
        </p:nvSpPr>
        <p:spPr>
          <a:xfrm rot="-5400000">
            <a:off x="2466273" y="3787921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</a:rPr>
              <a:t>XX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 rot="-5400000">
            <a:off x="2831587" y="2176339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 rot="-5400000">
            <a:off x="1364635" y="4006169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 rot="-5400000">
            <a:off x="1821835" y="4006169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416988" y="4194010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842587" y="4076147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209361" y="414895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269321" y="4133991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633159" y="4209447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642234" y="391857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563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4851959" y="3703947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101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826284" y="3579547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334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940584" y="376762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179834" y="3506247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121509" y="298197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563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205559" y="312735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183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200659" y="3283727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223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 rot="-5400000">
            <a:off x="3262575" y="2603600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</a:rPr>
              <a:t>XX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 rot="-5400000">
            <a:off x="3530350" y="2603600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3068130" y="281462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384282" y="2885797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4463234" y="298197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331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764200" y="2999256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3" name="Google Shape;123;p15"/>
          <p:cNvSpPr txBox="1"/>
          <p:nvPr/>
        </p:nvSpPr>
        <p:spPr>
          <a:xfrm rot="-5400000">
            <a:off x="4774659" y="3334479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2500118" y="324792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4624945" y="204337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4593014" y="2224400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3989497" y="1871914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3940572" y="203452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3966247" y="219632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938011" y="2351172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1" name="Google Shape;131;p15"/>
          <p:cNvSpPr txBox="1"/>
          <p:nvPr/>
        </p:nvSpPr>
        <p:spPr>
          <a:xfrm rot="-5400000">
            <a:off x="4604500" y="95287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562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2" name="Google Shape;132;p15"/>
          <p:cNvSpPr txBox="1"/>
          <p:nvPr/>
        </p:nvSpPr>
        <p:spPr>
          <a:xfrm rot="-5400000">
            <a:off x="4602333" y="598455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</a:rPr>
              <a:t>XX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33" name="Google Shape;133;p15"/>
          <p:cNvSpPr txBox="1"/>
          <p:nvPr/>
        </p:nvSpPr>
        <p:spPr>
          <a:xfrm rot="-5400000">
            <a:off x="4616905" y="1237999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2"/>
                </a:solidFill>
              </a:rPr>
              <a:t>XX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34" name="Google Shape;134;p15"/>
          <p:cNvSpPr txBox="1"/>
          <p:nvPr/>
        </p:nvSpPr>
        <p:spPr>
          <a:xfrm rot="-5400000">
            <a:off x="4767120" y="1432171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5" name="Google Shape;135;p15"/>
          <p:cNvSpPr txBox="1"/>
          <p:nvPr/>
        </p:nvSpPr>
        <p:spPr>
          <a:xfrm rot="-5400000">
            <a:off x="1364621" y="3382960"/>
            <a:ext cx="48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XXX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6168900" y="4474050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SMD</a:t>
            </a:r>
            <a:r>
              <a:rPr b="1" lang="en-GB" sz="1300">
                <a:solidFill>
                  <a:schemeClr val="dk2"/>
                </a:solidFill>
              </a:rPr>
              <a:t> COMPONENTS</a:t>
            </a:r>
            <a:endParaRPr b="1" sz="1300">
              <a:solidFill>
                <a:schemeClr val="dk2"/>
              </a:solidFill>
            </a:endParaRPr>
          </a:p>
        </p:txBody>
      </p:sp>
      <p:grpSp>
        <p:nvGrpSpPr>
          <p:cNvPr id="137" name="Google Shape;137;p15"/>
          <p:cNvGrpSpPr/>
          <p:nvPr/>
        </p:nvGrpSpPr>
        <p:grpSpPr>
          <a:xfrm>
            <a:off x="1361659" y="3214962"/>
            <a:ext cx="156600" cy="840253"/>
            <a:chOff x="1334000" y="987875"/>
            <a:chExt cx="156600" cy="840253"/>
          </a:xfrm>
        </p:grpSpPr>
        <p:sp>
          <p:nvSpPr>
            <p:cNvPr id="138" name="Google Shape;138;p15"/>
            <p:cNvSpPr/>
            <p:nvPr/>
          </p:nvSpPr>
          <p:spPr>
            <a:xfrm>
              <a:off x="1334000" y="987875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1334000" y="1115717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1334000" y="1243559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1334000" y="1371402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1334000" y="1499244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1334000" y="1627086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1334000" y="1754928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flipH="1" rot="10800000">
            <a:off x="2783817" y="1736431"/>
            <a:ext cx="2394850" cy="2572371"/>
            <a:chOff x="2765500" y="739725"/>
            <a:chExt cx="2394850" cy="2572371"/>
          </a:xfrm>
        </p:grpSpPr>
        <p:sp>
          <p:nvSpPr>
            <p:cNvPr id="146" name="Google Shape;146;p15"/>
            <p:cNvSpPr/>
            <p:nvPr/>
          </p:nvSpPr>
          <p:spPr>
            <a:xfrm>
              <a:off x="4411575" y="82602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4411575" y="99862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4572000" y="147317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4572000" y="164577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2851800" y="155947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2851800" y="173207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 rot="-5400000">
              <a:off x="2765500" y="2146800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 rot="-5400000">
              <a:off x="2938100" y="2146800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4989725" y="259421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4989725" y="276681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5011850" y="73972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5011850" y="912325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4722675" y="2001481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4722675" y="2153212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4722675" y="2304122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4411575" y="2834722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4121350" y="3163597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4989725" y="2266222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4989725" y="1973397"/>
              <a:ext cx="148500" cy="148500"/>
            </a:xfrm>
            <a:prstGeom prst="ellipse">
              <a:avLst/>
            </a:prstGeom>
            <a:noFill/>
            <a:ln cap="flat" cmpd="sng" w="19050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5"/>
          <p:cNvSpPr/>
          <p:nvPr/>
        </p:nvSpPr>
        <p:spPr>
          <a:xfrm>
            <a:off x="4021275" y="2711975"/>
            <a:ext cx="204300" cy="2580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3782600" y="3210800"/>
            <a:ext cx="347400" cy="3078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6241925" y="144825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TOA MODULE M-01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4398692" y="2323126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4398692" y="2583790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6616275" y="3702605"/>
            <a:ext cx="22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DIODE _105 35_ (MURS105 875mV@1A) ??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171" name="Google Shape;171;p15"/>
          <p:cNvCxnSpPr/>
          <p:nvPr/>
        </p:nvCxnSpPr>
        <p:spPr>
          <a:xfrm>
            <a:off x="4153425" y="2879425"/>
            <a:ext cx="1541400" cy="104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2" name="Google Shape;172;p15"/>
          <p:cNvCxnSpPr>
            <a:endCxn id="170" idx="1"/>
          </p:cNvCxnSpPr>
          <p:nvPr/>
        </p:nvCxnSpPr>
        <p:spPr>
          <a:xfrm>
            <a:off x="5694675" y="3927755"/>
            <a:ext cx="9216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5"/>
          <p:cNvSpPr/>
          <p:nvPr/>
        </p:nvSpPr>
        <p:spPr>
          <a:xfrm>
            <a:off x="5154329" y="2472902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5180666" y="3160040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6382225" y="721450"/>
            <a:ext cx="200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2"/>
                </a:solidFill>
              </a:rPr>
              <a:t>CAPACITORS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2"/>
                </a:solidFill>
              </a:rPr>
              <a:t>XX</a:t>
            </a:r>
            <a:r>
              <a:rPr lang="en-GB" sz="1000">
                <a:solidFill>
                  <a:schemeClr val="dk2"/>
                </a:solidFill>
              </a:rPr>
              <a:t> = TANTALUM ?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XXX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6" title="20260208_183634.jpg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457300" y="257975"/>
            <a:ext cx="5607752" cy="4487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title="20260208_183626.jpg"/>
          <p:cNvPicPr preferRelativeResize="0"/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 rot="10800000">
            <a:off x="499050" y="297996"/>
            <a:ext cx="5469952" cy="43481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16"/>
          <p:cNvCxnSpPr/>
          <p:nvPr/>
        </p:nvCxnSpPr>
        <p:spPr>
          <a:xfrm>
            <a:off x="4582800" y="1109309"/>
            <a:ext cx="18975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3" name="Google Shape;183;p16"/>
          <p:cNvSpPr txBox="1"/>
          <p:nvPr/>
        </p:nvSpPr>
        <p:spPr>
          <a:xfrm>
            <a:off x="6540075" y="924659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C203 POL CAP </a:t>
            </a:r>
            <a:r>
              <a:rPr b="1" lang="en-GB" sz="900">
                <a:solidFill>
                  <a:schemeClr val="dk2"/>
                </a:solidFill>
              </a:rPr>
              <a:t>47uF 16V</a:t>
            </a:r>
            <a:endParaRPr b="1" sz="900">
              <a:solidFill>
                <a:schemeClr val="dk2"/>
              </a:solidFill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4411575" y="82602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4411575" y="99862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4572000" y="147317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4572000" y="164577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2851800" y="155947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2851800" y="173207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 rot="-5400000">
            <a:off x="2765500" y="2146800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 rot="-5400000">
            <a:off x="2938100" y="2146800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4989725" y="259421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4989725" y="276681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5011850" y="73972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5011850" y="912325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16"/>
          <p:cNvCxnSpPr/>
          <p:nvPr/>
        </p:nvCxnSpPr>
        <p:spPr>
          <a:xfrm>
            <a:off x="5238750" y="880700"/>
            <a:ext cx="12417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7" name="Google Shape;197;p16"/>
          <p:cNvSpPr txBox="1"/>
          <p:nvPr/>
        </p:nvSpPr>
        <p:spPr>
          <a:xfrm>
            <a:off x="6540075" y="696059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C208 </a:t>
            </a:r>
            <a:r>
              <a:rPr lang="en-GB" sz="900">
                <a:solidFill>
                  <a:schemeClr val="dk2"/>
                </a:solidFill>
              </a:rPr>
              <a:t>POL CAP </a:t>
            </a:r>
            <a:r>
              <a:rPr b="1" lang="en-GB" sz="900">
                <a:solidFill>
                  <a:schemeClr val="dk2"/>
                </a:solidFill>
              </a:rPr>
              <a:t>10uF 16V</a:t>
            </a:r>
            <a:endParaRPr b="1" sz="900">
              <a:solidFill>
                <a:schemeClr val="dk2"/>
              </a:solidFill>
            </a:endParaRPr>
          </a:p>
        </p:txBody>
      </p:sp>
      <p:cxnSp>
        <p:nvCxnSpPr>
          <p:cNvPr id="198" name="Google Shape;198;p16"/>
          <p:cNvCxnSpPr/>
          <p:nvPr/>
        </p:nvCxnSpPr>
        <p:spPr>
          <a:xfrm>
            <a:off x="4780475" y="1638225"/>
            <a:ext cx="16998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9" name="Google Shape;199;p16"/>
          <p:cNvSpPr txBox="1"/>
          <p:nvPr/>
        </p:nvSpPr>
        <p:spPr>
          <a:xfrm>
            <a:off x="6540075" y="1453566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C201 POL CAP </a:t>
            </a:r>
            <a:r>
              <a:rPr b="1" lang="en-GB" sz="900">
                <a:solidFill>
                  <a:schemeClr val="dk2"/>
                </a:solidFill>
              </a:rPr>
              <a:t>47</a:t>
            </a:r>
            <a:r>
              <a:rPr b="1" lang="en-GB" sz="900">
                <a:solidFill>
                  <a:schemeClr val="dk2"/>
                </a:solidFill>
              </a:rPr>
              <a:t>uF 16V</a:t>
            </a:r>
            <a:endParaRPr b="1" sz="900">
              <a:solidFill>
                <a:schemeClr val="dk2"/>
              </a:solidFill>
            </a:endParaRPr>
          </a:p>
        </p:txBody>
      </p:sp>
      <p:cxnSp>
        <p:nvCxnSpPr>
          <p:cNvPr id="200" name="Google Shape;200;p16"/>
          <p:cNvCxnSpPr/>
          <p:nvPr/>
        </p:nvCxnSpPr>
        <p:spPr>
          <a:xfrm>
            <a:off x="5218350" y="2769700"/>
            <a:ext cx="12621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1" name="Google Shape;201;p16"/>
          <p:cNvSpPr txBox="1"/>
          <p:nvPr/>
        </p:nvSpPr>
        <p:spPr>
          <a:xfrm>
            <a:off x="6540075" y="2585050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C213 POL CAP </a:t>
            </a:r>
            <a:r>
              <a:rPr b="1" lang="en-GB" sz="900">
                <a:solidFill>
                  <a:schemeClr val="dk2"/>
                </a:solidFill>
              </a:rPr>
              <a:t>100uF 25V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202" name="Google Shape;202;p16"/>
          <p:cNvCxnSpPr/>
          <p:nvPr/>
        </p:nvCxnSpPr>
        <p:spPr>
          <a:xfrm>
            <a:off x="3113625" y="1871300"/>
            <a:ext cx="33666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3" name="Google Shape;203;p16"/>
          <p:cNvSpPr txBox="1"/>
          <p:nvPr/>
        </p:nvSpPr>
        <p:spPr>
          <a:xfrm>
            <a:off x="6540075" y="1686659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C205 POL CAP </a:t>
            </a:r>
            <a:r>
              <a:rPr b="1" lang="en-GB" sz="900">
                <a:solidFill>
                  <a:schemeClr val="dk2"/>
                </a:solidFill>
              </a:rPr>
              <a:t>2.2uF 50V</a:t>
            </a:r>
            <a:endParaRPr b="1" sz="900">
              <a:solidFill>
                <a:schemeClr val="dk2"/>
              </a:solidFill>
            </a:endParaRPr>
          </a:p>
        </p:txBody>
      </p:sp>
      <p:cxnSp>
        <p:nvCxnSpPr>
          <p:cNvPr id="204" name="Google Shape;204;p16"/>
          <p:cNvCxnSpPr/>
          <p:nvPr/>
        </p:nvCxnSpPr>
        <p:spPr>
          <a:xfrm>
            <a:off x="3241700" y="2252300"/>
            <a:ext cx="32385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5" name="Google Shape;205;p16"/>
          <p:cNvSpPr txBox="1"/>
          <p:nvPr/>
        </p:nvSpPr>
        <p:spPr>
          <a:xfrm>
            <a:off x="6540075" y="2067659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C204 POL CAP </a:t>
            </a:r>
            <a:r>
              <a:rPr b="1" lang="en-GB" sz="900">
                <a:solidFill>
                  <a:schemeClr val="dk2"/>
                </a:solidFill>
              </a:rPr>
              <a:t>10uF 16V</a:t>
            </a:r>
            <a:endParaRPr b="1" sz="900">
              <a:solidFill>
                <a:schemeClr val="dk2"/>
              </a:solidFill>
            </a:endParaRPr>
          </a:p>
        </p:txBody>
      </p:sp>
      <p:cxnSp>
        <p:nvCxnSpPr>
          <p:cNvPr id="206" name="Google Shape;206;p16"/>
          <p:cNvCxnSpPr/>
          <p:nvPr/>
        </p:nvCxnSpPr>
        <p:spPr>
          <a:xfrm flipH="1" rot="10800000">
            <a:off x="5346325" y="2047800"/>
            <a:ext cx="1134000" cy="78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7" name="Google Shape;207;p16"/>
          <p:cNvSpPr txBox="1"/>
          <p:nvPr/>
        </p:nvSpPr>
        <p:spPr>
          <a:xfrm>
            <a:off x="6540075" y="1863021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R127 RESISTOR </a:t>
            </a:r>
            <a:r>
              <a:rPr b="1" lang="en-GB" sz="900">
                <a:solidFill>
                  <a:schemeClr val="dk2"/>
                </a:solidFill>
              </a:rPr>
              <a:t>220 Ohm</a:t>
            </a:r>
            <a:endParaRPr b="1" sz="900">
              <a:solidFill>
                <a:schemeClr val="dk2"/>
              </a:solidFill>
            </a:endParaRPr>
          </a:p>
        </p:txBody>
      </p:sp>
      <p:grpSp>
        <p:nvGrpSpPr>
          <p:cNvPr id="208" name="Google Shape;208;p16"/>
          <p:cNvGrpSpPr/>
          <p:nvPr/>
        </p:nvGrpSpPr>
        <p:grpSpPr>
          <a:xfrm>
            <a:off x="1334000" y="987875"/>
            <a:ext cx="156600" cy="840253"/>
            <a:chOff x="1334000" y="987875"/>
            <a:chExt cx="156600" cy="840253"/>
          </a:xfrm>
        </p:grpSpPr>
        <p:sp>
          <p:nvSpPr>
            <p:cNvPr id="209" name="Google Shape;209;p16"/>
            <p:cNvSpPr/>
            <p:nvPr/>
          </p:nvSpPr>
          <p:spPr>
            <a:xfrm>
              <a:off x="1334000" y="987875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1334000" y="1115717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1334000" y="1243559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1334000" y="1371402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1334000" y="1499244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334000" y="1627086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1334000" y="1754928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16"/>
          <p:cNvSpPr txBox="1"/>
          <p:nvPr/>
        </p:nvSpPr>
        <p:spPr>
          <a:xfrm rot="-5400000">
            <a:off x="839000" y="1272188"/>
            <a:ext cx="878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chemeClr val="lt1"/>
                </a:solidFill>
              </a:rPr>
              <a:t>TONE CONTROLS</a:t>
            </a:r>
            <a:endParaRPr b="1" sz="600">
              <a:solidFill>
                <a:schemeClr val="lt1"/>
              </a:solidFill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6168900" y="4474050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THROUGH HOLE COMPONENTS</a:t>
            </a:r>
            <a:endParaRPr b="1" sz="1300">
              <a:solidFill>
                <a:schemeClr val="dk2"/>
              </a:solidFill>
            </a:endParaRPr>
          </a:p>
        </p:txBody>
      </p:sp>
      <p:cxnSp>
        <p:nvCxnSpPr>
          <p:cNvPr id="218" name="Google Shape;218;p16"/>
          <p:cNvCxnSpPr/>
          <p:nvPr/>
        </p:nvCxnSpPr>
        <p:spPr>
          <a:xfrm>
            <a:off x="4582800" y="3649525"/>
            <a:ext cx="189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9" name="Google Shape;219;p16"/>
          <p:cNvSpPr txBox="1"/>
          <p:nvPr/>
        </p:nvSpPr>
        <p:spPr>
          <a:xfrm>
            <a:off x="6540075" y="3464875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AUDIO ISOLATION </a:t>
            </a:r>
            <a:r>
              <a:rPr lang="en-GB" sz="900">
                <a:solidFill>
                  <a:schemeClr val="dk2"/>
                </a:solidFill>
              </a:rPr>
              <a:t>TRANSFORMER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4722675" y="2001481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4722675" y="2153212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4722675" y="2304122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" name="Google Shape;223;p16"/>
          <p:cNvCxnSpPr/>
          <p:nvPr/>
        </p:nvCxnSpPr>
        <p:spPr>
          <a:xfrm>
            <a:off x="4890825" y="2428650"/>
            <a:ext cx="15897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4" name="Google Shape;224;p16"/>
          <p:cNvSpPr txBox="1"/>
          <p:nvPr/>
        </p:nvSpPr>
        <p:spPr>
          <a:xfrm>
            <a:off x="6540075" y="2244021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CN1 INPUT CONNECTOR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4411575" y="2834722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4121350" y="3163597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4989725" y="2266222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4989725" y="1973397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6241925" y="144825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TOA MODULE M-01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4379450" y="2323126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4379450" y="2583790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16"/>
          <p:cNvCxnSpPr/>
          <p:nvPr/>
        </p:nvCxnSpPr>
        <p:spPr>
          <a:xfrm>
            <a:off x="4612200" y="2585850"/>
            <a:ext cx="18684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3" name="Google Shape;233;p16"/>
          <p:cNvSpPr txBox="1"/>
          <p:nvPr/>
        </p:nvSpPr>
        <p:spPr>
          <a:xfrm>
            <a:off x="6540075" y="2401231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J1 PHANTOM POWER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5154329" y="1710902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5180666" y="2398040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16"/>
          <p:cNvCxnSpPr/>
          <p:nvPr/>
        </p:nvCxnSpPr>
        <p:spPr>
          <a:xfrm>
            <a:off x="4346050" y="3271650"/>
            <a:ext cx="2134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7" name="Google Shape;237;p16"/>
          <p:cNvSpPr txBox="1"/>
          <p:nvPr/>
        </p:nvSpPr>
        <p:spPr>
          <a:xfrm>
            <a:off x="6540075" y="3087025"/>
            <a:ext cx="251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TRANSFORMER CONNECTION POINTS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7" title="20260208_183634.jpg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457300" y="257975"/>
            <a:ext cx="5607752" cy="4487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17"/>
          <p:cNvCxnSpPr/>
          <p:nvPr/>
        </p:nvCxnSpPr>
        <p:spPr>
          <a:xfrm>
            <a:off x="4582800" y="2506525"/>
            <a:ext cx="189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4" name="Google Shape;244;p17"/>
          <p:cNvSpPr txBox="1"/>
          <p:nvPr/>
        </p:nvSpPr>
        <p:spPr>
          <a:xfrm>
            <a:off x="6540075" y="2321875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J1 PHANTOM POWER JUMPER</a:t>
            </a:r>
            <a:endParaRPr sz="900">
              <a:solidFill>
                <a:schemeClr val="dk2"/>
              </a:solidFill>
            </a:endParaRPr>
          </a:p>
        </p:txBody>
      </p:sp>
      <p:cxnSp>
        <p:nvCxnSpPr>
          <p:cNvPr id="245" name="Google Shape;245;p17"/>
          <p:cNvCxnSpPr/>
          <p:nvPr/>
        </p:nvCxnSpPr>
        <p:spPr>
          <a:xfrm>
            <a:off x="5012775" y="2201725"/>
            <a:ext cx="146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6" name="Google Shape;246;p17"/>
          <p:cNvSpPr txBox="1"/>
          <p:nvPr/>
        </p:nvSpPr>
        <p:spPr>
          <a:xfrm>
            <a:off x="6540075" y="2017075"/>
            <a:ext cx="221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</a:rPr>
              <a:t>CN1 INPUT CONNECTION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6528506" y="1262575"/>
            <a:ext cx="221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2"/>
                </a:solidFill>
              </a:rPr>
              <a:t>INPUT CONNECTION</a:t>
            </a:r>
            <a:endParaRPr b="1" sz="900">
              <a:solidFill>
                <a:schemeClr val="dk2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n-GB" sz="900">
                <a:solidFill>
                  <a:schemeClr val="dk2"/>
                </a:solidFill>
              </a:rPr>
              <a:t>EARTH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n-GB" sz="900">
                <a:solidFill>
                  <a:schemeClr val="dk2"/>
                </a:solidFill>
              </a:rPr>
              <a:t>COLD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AutoNum type="arabicPeriod"/>
            </a:pPr>
            <a:r>
              <a:rPr lang="en-GB" sz="900">
                <a:solidFill>
                  <a:schemeClr val="dk2"/>
                </a:solidFill>
              </a:rPr>
              <a:t>HOT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6168900" y="4474050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EXTERNAL CONNECTORS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6241925" y="144825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TOA MODULE M-01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4871989" y="2001481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4871989" y="2153212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4871989" y="2304122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4438092" y="2323126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4438092" y="2583790"/>
            <a:ext cx="148500" cy="148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18"/>
          <p:cNvGrpSpPr/>
          <p:nvPr/>
        </p:nvGrpSpPr>
        <p:grpSpPr>
          <a:xfrm>
            <a:off x="830800" y="538575"/>
            <a:ext cx="156600" cy="840253"/>
            <a:chOff x="1334000" y="987875"/>
            <a:chExt cx="156600" cy="840253"/>
          </a:xfrm>
        </p:grpSpPr>
        <p:sp>
          <p:nvSpPr>
            <p:cNvPr id="260" name="Google Shape;260;p18"/>
            <p:cNvSpPr/>
            <p:nvPr/>
          </p:nvSpPr>
          <p:spPr>
            <a:xfrm>
              <a:off x="1334000" y="987875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1334000" y="1115717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1334000" y="1243559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1334000" y="1371402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1334000" y="1499244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1334000" y="1627086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1334000" y="1754928"/>
              <a:ext cx="156600" cy="732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18"/>
          <p:cNvSpPr txBox="1"/>
          <p:nvPr/>
        </p:nvSpPr>
        <p:spPr>
          <a:xfrm rot="-5400000">
            <a:off x="352600" y="817450"/>
            <a:ext cx="844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chemeClr val="dk1"/>
                </a:solidFill>
              </a:rPr>
              <a:t>TONE CONTROLS</a:t>
            </a:r>
            <a:endParaRPr b="1" sz="600">
              <a:solidFill>
                <a:schemeClr val="dk1"/>
              </a:solidFill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1019945" y="429007"/>
            <a:ext cx="155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PIN 1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PIN 2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PIN 3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PIN 4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PIN 5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2"/>
                </a:solidFill>
              </a:rPr>
              <a:t>PIN 6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2"/>
                </a:solidFill>
              </a:rPr>
              <a:t>PIN 7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4783450" y="4474050"/>
            <a:ext cx="417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TONE CONTROL BOARD</a:t>
            </a:r>
            <a:r>
              <a:rPr b="1" lang="en-GB" sz="1300">
                <a:solidFill>
                  <a:schemeClr val="dk2"/>
                </a:solidFill>
              </a:rPr>
              <a:t> COMPONENTS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636550" y="1945475"/>
            <a:ext cx="3551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2"/>
                </a:solidFill>
              </a:rPr>
              <a:t>LOW 47k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	PIN 4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	PIN 5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2"/>
                </a:solidFill>
              </a:rPr>
              <a:t>HIGH</a:t>
            </a:r>
            <a:r>
              <a:rPr b="1" lang="en-GB" sz="1000">
                <a:solidFill>
                  <a:schemeClr val="dk2"/>
                </a:solidFill>
              </a:rPr>
              <a:t> 47k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	PIN 6</a:t>
            </a:r>
            <a:endParaRPr sz="10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PIN 7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2"/>
                </a:solidFill>
              </a:rPr>
              <a:t>GAIN</a:t>
            </a:r>
            <a:r>
              <a:rPr b="1" lang="en-GB" sz="1000">
                <a:solidFill>
                  <a:schemeClr val="dk2"/>
                </a:solidFill>
              </a:rPr>
              <a:t> 47k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	PIN 1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	PIN 2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	PIN 3</a:t>
            </a:r>
            <a:endParaRPr sz="1000">
              <a:solidFill>
                <a:schemeClr val="dk2"/>
              </a:solidFill>
            </a:endParaRPr>
          </a:p>
        </p:txBody>
      </p:sp>
      <p:grpSp>
        <p:nvGrpSpPr>
          <p:cNvPr id="271" name="Google Shape;271;p18"/>
          <p:cNvGrpSpPr/>
          <p:nvPr/>
        </p:nvGrpSpPr>
        <p:grpSpPr>
          <a:xfrm>
            <a:off x="2025085" y="2164200"/>
            <a:ext cx="1156265" cy="339175"/>
            <a:chOff x="3955160" y="877500"/>
            <a:chExt cx="1156265" cy="339175"/>
          </a:xfrm>
        </p:grpSpPr>
        <p:sp>
          <p:nvSpPr>
            <p:cNvPr id="272" name="Google Shape;272;p18"/>
            <p:cNvSpPr/>
            <p:nvPr/>
          </p:nvSpPr>
          <p:spPr>
            <a:xfrm>
              <a:off x="4293860" y="877500"/>
              <a:ext cx="479100" cy="103200"/>
            </a:xfrm>
            <a:prstGeom prst="rect">
              <a:avLst/>
            </a:prstGeom>
            <a:solidFill>
              <a:schemeClr val="lt2"/>
            </a:solidFill>
            <a:ln cap="flat" cmpd="sng" w="6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500" lIns="59500" spcFirstLastPara="1" rIns="59500" wrap="square" tIns="5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1"/>
            </a:p>
          </p:txBody>
        </p:sp>
        <p:cxnSp>
          <p:nvCxnSpPr>
            <p:cNvPr id="273" name="Google Shape;273;p18"/>
            <p:cNvCxnSpPr/>
            <p:nvPr/>
          </p:nvCxnSpPr>
          <p:spPr>
            <a:xfrm rot="10800000">
              <a:off x="3955160" y="924477"/>
              <a:ext cx="338700" cy="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8"/>
            <p:cNvCxnSpPr/>
            <p:nvPr/>
          </p:nvCxnSpPr>
          <p:spPr>
            <a:xfrm rot="10800000">
              <a:off x="4772725" y="924477"/>
              <a:ext cx="338700" cy="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8"/>
            <p:cNvCxnSpPr/>
            <p:nvPr/>
          </p:nvCxnSpPr>
          <p:spPr>
            <a:xfrm rot="10800000">
              <a:off x="4555333" y="980875"/>
              <a:ext cx="0" cy="23580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76" name="Google Shape;276;p18"/>
          <p:cNvGrpSpPr/>
          <p:nvPr/>
        </p:nvGrpSpPr>
        <p:grpSpPr>
          <a:xfrm>
            <a:off x="2025085" y="2697600"/>
            <a:ext cx="1156265" cy="339175"/>
            <a:chOff x="3955160" y="877500"/>
            <a:chExt cx="1156265" cy="339175"/>
          </a:xfrm>
        </p:grpSpPr>
        <p:sp>
          <p:nvSpPr>
            <p:cNvPr id="277" name="Google Shape;277;p18"/>
            <p:cNvSpPr/>
            <p:nvPr/>
          </p:nvSpPr>
          <p:spPr>
            <a:xfrm>
              <a:off x="4293860" y="877500"/>
              <a:ext cx="479100" cy="103200"/>
            </a:xfrm>
            <a:prstGeom prst="rect">
              <a:avLst/>
            </a:prstGeom>
            <a:solidFill>
              <a:schemeClr val="lt2"/>
            </a:solidFill>
            <a:ln cap="flat" cmpd="sng" w="6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500" lIns="59500" spcFirstLastPara="1" rIns="59500" wrap="square" tIns="5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1"/>
            </a:p>
          </p:txBody>
        </p:sp>
        <p:cxnSp>
          <p:nvCxnSpPr>
            <p:cNvPr id="278" name="Google Shape;278;p18"/>
            <p:cNvCxnSpPr/>
            <p:nvPr/>
          </p:nvCxnSpPr>
          <p:spPr>
            <a:xfrm rot="10800000">
              <a:off x="3955160" y="924477"/>
              <a:ext cx="338700" cy="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8"/>
            <p:cNvCxnSpPr/>
            <p:nvPr/>
          </p:nvCxnSpPr>
          <p:spPr>
            <a:xfrm rot="10800000">
              <a:off x="4772725" y="924477"/>
              <a:ext cx="338700" cy="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8"/>
            <p:cNvCxnSpPr/>
            <p:nvPr/>
          </p:nvCxnSpPr>
          <p:spPr>
            <a:xfrm rot="10800000">
              <a:off x="4555333" y="980875"/>
              <a:ext cx="0" cy="23580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1" name="Google Shape;281;p18"/>
          <p:cNvGrpSpPr/>
          <p:nvPr/>
        </p:nvGrpSpPr>
        <p:grpSpPr>
          <a:xfrm>
            <a:off x="2025085" y="3307200"/>
            <a:ext cx="1156265" cy="339175"/>
            <a:chOff x="3955160" y="877500"/>
            <a:chExt cx="1156265" cy="339175"/>
          </a:xfrm>
        </p:grpSpPr>
        <p:sp>
          <p:nvSpPr>
            <p:cNvPr id="282" name="Google Shape;282;p18"/>
            <p:cNvSpPr/>
            <p:nvPr/>
          </p:nvSpPr>
          <p:spPr>
            <a:xfrm>
              <a:off x="4293860" y="877500"/>
              <a:ext cx="479100" cy="103200"/>
            </a:xfrm>
            <a:prstGeom prst="rect">
              <a:avLst/>
            </a:prstGeom>
            <a:solidFill>
              <a:schemeClr val="lt2"/>
            </a:solidFill>
            <a:ln cap="flat" cmpd="sng" w="6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9500" lIns="59500" spcFirstLastPara="1" rIns="59500" wrap="square" tIns="59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11"/>
            </a:p>
          </p:txBody>
        </p:sp>
        <p:cxnSp>
          <p:nvCxnSpPr>
            <p:cNvPr id="283" name="Google Shape;283;p18"/>
            <p:cNvCxnSpPr/>
            <p:nvPr/>
          </p:nvCxnSpPr>
          <p:spPr>
            <a:xfrm rot="10800000">
              <a:off x="3955160" y="924477"/>
              <a:ext cx="338700" cy="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p18"/>
            <p:cNvCxnSpPr/>
            <p:nvPr/>
          </p:nvCxnSpPr>
          <p:spPr>
            <a:xfrm rot="10800000">
              <a:off x="4772725" y="924477"/>
              <a:ext cx="338700" cy="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18"/>
            <p:cNvCxnSpPr/>
            <p:nvPr/>
          </p:nvCxnSpPr>
          <p:spPr>
            <a:xfrm rot="10800000">
              <a:off x="4555333" y="980875"/>
              <a:ext cx="0" cy="235800"/>
            </a:xfrm>
            <a:prstGeom prst="straightConnector1">
              <a:avLst/>
            </a:prstGeom>
            <a:noFill/>
            <a:ln cap="flat" cmpd="sng" w="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6" name="Google Shape;286;p18"/>
          <p:cNvSpPr txBox="1"/>
          <p:nvPr/>
        </p:nvSpPr>
        <p:spPr>
          <a:xfrm>
            <a:off x="6241925" y="144825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TOA MODULE M-01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5544250" y="969625"/>
            <a:ext cx="300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</a:rPr>
              <a:t>IC1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4570 is an ultra low-noise, wideband high slew-rate, dual operational amplifier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00" y="621875"/>
            <a:ext cx="8153824" cy="417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9"/>
          <p:cNvSpPr txBox="1"/>
          <p:nvPr/>
        </p:nvSpPr>
        <p:spPr>
          <a:xfrm>
            <a:off x="6241925" y="144825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TOA MODULE M-21S</a:t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 txBox="1"/>
          <p:nvPr/>
        </p:nvSpPr>
        <p:spPr>
          <a:xfrm>
            <a:off x="6241925" y="144825"/>
            <a:ext cx="27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TOA MODULE M-21S</a:t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1141425" y="4597175"/>
            <a:ext cx="3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TOP </a:t>
            </a:r>
            <a:r>
              <a:rPr lang="en-GB" sz="1100">
                <a:solidFill>
                  <a:schemeClr val="dk2"/>
                </a:solidFill>
              </a:rPr>
              <a:t>(LOOKING FROM TOP)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5088075" y="4597175"/>
            <a:ext cx="3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BOTTOM </a:t>
            </a:r>
            <a:r>
              <a:rPr lang="en-GB" sz="1100">
                <a:solidFill>
                  <a:schemeClr val="dk2"/>
                </a:solidFill>
              </a:rPr>
              <a:t>(LOOKING FROM BOTTOM)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